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83" r:id="rId3"/>
    <p:sldId id="28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53B5A-2880-6343-92C9-AD5A888BC7EA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D6C8D-3CB8-D84D-88A9-81B319713FE3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2082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Gün 1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Amaçları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dilinin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yapılarını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öğrenmek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dizilerle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(DNA)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çalışmaya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başlamak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dosyalarının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yapısını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anlamak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okuma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temizleme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mantığını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kavramak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80371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Gün 2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Amaçları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Sayısal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verilerle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verimli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Tablo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tabanlı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mantığını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öğrenmek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Gerçek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biyoinformatik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22837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Python’da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farklı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tiplerde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saklanır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Metinsel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bilgiler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string, tam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integer,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ondalıklı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float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tanımlanır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Biyoinformatikte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isimleri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genellikle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string,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ekspresyon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değerleri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sayısal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09199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birden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fazla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öğeyi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birlikte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tutmak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listeleri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üzerinde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döngüler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yardımıyla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yapılabilir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yaklaşım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setleriyle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çalışmanın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temelini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oluşturur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7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4613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Dictionary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yapıları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anahtar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ilişkisi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kurmak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Bir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ekspresyon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değerini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üzerinden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saklamak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erişmek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sayesinde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mümkündür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biyoinformatikte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çok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yaygındır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8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67568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Koşul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ifadeleri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kullanılarak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belirli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kriterlere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uyan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seçilebilir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Örneğin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belirli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ekspresyon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eşiğinin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üzerindeki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filtrelenerek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anlamlı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sonuçlara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ulaşılabilir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9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44499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Fonksiyonlar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tekrar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işlemleri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düzenli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güvenilir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şekilde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yapmak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Biyoinformatikte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GC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içeriği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hesaplama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gibi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fonksiyonlar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yardımıyla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modüler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hale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getirilir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10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00604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42561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Gerçek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halinde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FASTA, FASTQ, BAM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VCF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gibi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dosyalarla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çalışılır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nedenle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Python’da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güvenli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kontrollü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okuma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yöntemleri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kullanılmalıdır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85031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Python’da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okurken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open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yapısı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tercih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dosyanın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hata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olsa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bile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kapatılmasını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sağlar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büyük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dosyalarla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çalışırken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güvenlidir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262421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Büyük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belleğe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tamamen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alınmaz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Dosyalar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okunur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yaklaşım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biyoinformatik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analizlerin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prensiplerinden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biridir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14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37502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15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10548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dosyası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okunurken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başlık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dizi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satırları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ayrıştırılır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başlık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diziler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biriktirilir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daha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dizi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haline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getirilir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hatalara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dayanıklı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şekilde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yapılmalıdır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54056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Şu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 Kadar Ne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Yaptık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dosyasını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okuduk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Sekansları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temizledik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içeriğini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hesapladık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17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84435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Üretilen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sonuçları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Karşılaştırmak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Filtrelemek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Sıralamak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Kaydetmek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isteriz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İşte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noktada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Pandas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devreye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girer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18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30492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listeleri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çalışır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Sayısal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yavaştır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NumPy:</a:t>
            </a: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Veriyi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parça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sayısal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gibi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alır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Çok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daha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hızlıdır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Matematiksel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 optimize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edilmiştir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19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84635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Binlerce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binlerce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hücre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Yüz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binlerce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sekans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ölçekte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 Python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yetersiz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kalır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doğruluk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sağlar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20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22974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Döngü</a:t>
            </a:r>
            <a:r>
              <a:rPr lang="en-US" dirty="0"/>
              <a:t> </a:t>
            </a:r>
            <a:r>
              <a:rPr lang="en-US" dirty="0" err="1"/>
              <a:t>yazma</a:t>
            </a:r>
            <a:r>
              <a:rPr lang="en-US" dirty="0"/>
              <a:t> </a:t>
            </a:r>
            <a:r>
              <a:rPr lang="en-US" dirty="0" err="1"/>
              <a:t>ihtiyacını</a:t>
            </a:r>
            <a:r>
              <a:rPr lang="en-US" dirty="0"/>
              <a:t> </a:t>
            </a:r>
            <a:r>
              <a:rPr lang="en-US" dirty="0" err="1"/>
              <a:t>azaltır</a:t>
            </a:r>
            <a:endParaRPr lang="en-US" dirty="0"/>
          </a:p>
          <a:p>
            <a:r>
              <a:rPr lang="en-US" dirty="0"/>
              <a:t>Kodu </a:t>
            </a:r>
            <a:r>
              <a:rPr lang="en-US" dirty="0" err="1"/>
              <a:t>sadeleştirir</a:t>
            </a:r>
            <a:endParaRPr lang="en-US" dirty="0"/>
          </a:p>
          <a:p>
            <a:r>
              <a:rPr lang="en-US" dirty="0"/>
              <a:t>Hata </a:t>
            </a:r>
            <a:r>
              <a:rPr lang="en-US" dirty="0" err="1"/>
              <a:t>riskini</a:t>
            </a:r>
            <a:r>
              <a:rPr lang="en-US" dirty="0"/>
              <a:t> </a:t>
            </a:r>
            <a:r>
              <a:rPr lang="en-US" dirty="0" err="1"/>
              <a:t>düşürür</a:t>
            </a:r>
            <a:endParaRPr lang="en-US" dirty="0"/>
          </a:p>
          <a:p>
            <a:r>
              <a:rPr lang="en-US" dirty="0" err="1"/>
              <a:t>Ortalama</a:t>
            </a:r>
            <a:r>
              <a:rPr lang="en-US" dirty="0"/>
              <a:t>, min, max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istatistikleri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satırda</a:t>
            </a:r>
            <a:r>
              <a:rPr lang="en-US" dirty="0"/>
              <a:t> </a:t>
            </a:r>
            <a:r>
              <a:rPr lang="en-US" dirty="0" err="1"/>
              <a:t>hesaplar</a:t>
            </a:r>
            <a:endParaRPr lang="en-US" dirty="0"/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8281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Sekans</a:t>
            </a:r>
            <a:r>
              <a:rPr lang="en-US" dirty="0"/>
              <a:t> </a:t>
            </a:r>
            <a:r>
              <a:rPr lang="en-US" dirty="0" err="1"/>
              <a:t>uzunlukları</a:t>
            </a:r>
            <a:r>
              <a:rPr lang="en-US" dirty="0"/>
              <a:t> </a:t>
            </a:r>
            <a:r>
              <a:rPr lang="en-US" dirty="0" err="1"/>
              <a:t>sayısal</a:t>
            </a:r>
            <a:r>
              <a:rPr lang="en-US" dirty="0"/>
              <a:t> </a:t>
            </a:r>
            <a:r>
              <a:rPr lang="en-US" dirty="0" err="1"/>
              <a:t>diziye</a:t>
            </a:r>
            <a:r>
              <a:rPr lang="en-US" dirty="0"/>
              <a:t> </a:t>
            </a:r>
            <a:r>
              <a:rPr lang="en-US" dirty="0" err="1"/>
              <a:t>dönüştürüldü</a:t>
            </a:r>
            <a:endParaRPr lang="en-US" dirty="0"/>
          </a:p>
          <a:p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uzunluk</a:t>
            </a:r>
            <a:r>
              <a:rPr lang="en-US" dirty="0"/>
              <a:t> </a:t>
            </a:r>
            <a:r>
              <a:rPr lang="en-US" dirty="0" err="1"/>
              <a:t>hesaplandı</a:t>
            </a:r>
            <a:endParaRPr lang="en-US" dirty="0"/>
          </a:p>
          <a:p>
            <a:r>
              <a:rPr lang="en-US" dirty="0"/>
              <a:t>Minimum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edildi</a:t>
            </a:r>
            <a:endParaRPr lang="en-US" dirty="0"/>
          </a:p>
          <a:p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eşiklerin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sekanslar</a:t>
            </a:r>
            <a:r>
              <a:rPr lang="en-US" dirty="0"/>
              <a:t> </a:t>
            </a:r>
            <a:r>
              <a:rPr lang="en-US" dirty="0" err="1"/>
              <a:t>filtrelendi</a:t>
            </a:r>
            <a:endParaRPr lang="en-US" dirty="0"/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44418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Sayıları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çok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iyi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biyoinformatik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sadece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değildir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Bizde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ayrıca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isimleri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Örnek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kimlikleri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Klinik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bilgiler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Deney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koşulları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vardır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94158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Biyoinformatik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çoğunlukla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tablodur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Expression matrix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Annotation table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Pandas =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Programlanabilir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Excel</a:t>
            </a: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24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877891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Satır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gözlem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(gen,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örnek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hücre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Kolon =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özellik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uzunluk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GC,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ekspresyon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biyolojik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düşünme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şekliyle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birebir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uyumludur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25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805452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 FASTA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kaydı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 /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</a:t>
            </a: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Sekans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uzunluğu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içeriği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tabloda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toplandı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43136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Uzunluğa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filtreleme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içeriğine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sıralama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Özet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istatistikler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ortalama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std, min, max)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27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814333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Projenin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Amacı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TP53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geninin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dizisini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incelemek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içeriğini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hesaplamak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Ekspresyon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verisini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etmek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Klinik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bilgiyle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birleştirmek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Sonucu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görselleştirmek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D6C8D-3CB8-D84D-88A9-81B319713FE3}" type="slidenum">
              <a:rPr lang="en-TR" smtClean="0"/>
              <a:t>28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2668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123B-0FB0-2308-2359-84704BE83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684E4-4CE3-5C44-806D-10E43A594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1C2B-C886-D578-F0A2-D903690F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CDB5E-8B68-27C4-D6B1-7320258F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B38BE-70EC-1E92-F686-FFDB5795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25317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86BA-DE28-4F5D-2A22-6452EFC0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81538-1BF1-68DB-019C-88BD8A3D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7BFF4-291C-83D3-6CA0-79D941AB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82109-7D00-DB08-B62D-78F6B242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9B0BC-4D9D-676B-2CF9-25C85458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3472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B03C-A176-30C8-97FA-FABC48E1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866A4-609E-4573-809F-0ACAB3599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AB64E-BE51-561A-8D6D-25369DE8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EAC61-55A0-041A-2F46-68686ED0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9606-BC9D-E8CA-90B7-86B3C8B9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299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8035-40FC-BF3C-5E5B-A001E75D8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74E1E-A003-0062-E683-709186763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C617E-2912-B267-C736-61A6A84F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6EF25-4CD5-473F-8D89-CC09CFFF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B2612-8DC7-EDE1-66F1-F4FCFF4B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B6607-EE2C-3FC6-60AC-5CE61C36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7792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2E2D-8554-42A2-7D4B-DA081D8D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4B34A-6E76-9BDF-6292-808E774C4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B2E47-30CD-F996-D7B7-41F29FC94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D61EF-EF32-FE9F-2A46-C08116094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DCD60-02F8-D155-F23E-2D4A984B7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8170D7-93A2-7298-EFB0-17B362B2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5DDF3-0ADC-54CB-4364-16B7B7DC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9A90B-0CD6-C97C-0079-92F4B193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15565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CE54-5CE1-7FBF-7C35-12260D19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77FE9D-F2D8-BD46-5811-B9A0B521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E0FE1-4E7F-271D-889D-4B5B6841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A7399-690D-9F7A-C94D-68F9F664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0225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328AF-A67D-F7F2-D9B0-A2848B36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47373-5DC5-28DD-D971-D47EB56F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E1139-5871-873B-5C48-A966DDA84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0942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5B60-F972-F464-44E1-C0AEE9D3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33B8-770F-EDE3-4DA7-8ADFDAFB2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9C100-D2E3-6161-51F9-D311662E5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6DB10-5E32-1ED1-DD1C-8A9DD295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8C6E9-AC5D-1747-3FB0-5D00F594F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94A21-2F2A-049E-60F8-CA2299ED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3277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8136-E07E-EC5C-07F1-1FC90363D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58309-43EB-29A0-B8B6-BA03BAE16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7011A-CC0F-1735-D46B-D9F4AE6A5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E3A7B-8BF0-7DEC-A0FF-3BC9B8090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0143F-926C-C618-5E7A-0A0C52D7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892A1-D054-4CF7-B1B5-62B0C066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98873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5FFC-A94B-86C1-8C87-541698E5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465B7-010C-BD36-67DC-517BDAD3E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2E319-DFBA-1760-FA73-3A3CF6E5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F8198-C15A-D876-8AE4-3AF91B43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78ECE-5AB0-661A-0FD7-912584CF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2915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44621-9724-3CCD-BDD7-E5684AE92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9CFEA-353F-8021-8308-AD6FD0B5E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482D-3349-9CD9-62D9-4F52DA71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688C7-BFA7-7703-B0D5-E391BAF2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77826-A6A0-4C40-35A0-BF7B08BE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0908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CDCB9-D630-ECA4-1091-431ED55F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08442-87ED-08D2-1A5C-D66E279E1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ECA88-D57C-E299-AB39-43066087C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F83B6-492B-224B-BCAE-0925CE84E786}" type="datetimeFigureOut">
              <a:rPr lang="en-TR" smtClean="0"/>
              <a:t>16.12.2025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B0700-9587-BA23-3C5C-3CF479B27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168D-547F-E9FF-2EB9-6E402DEB5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F6825-B0C8-8F42-B533-7DA3462C9BC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6285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0EA3-7EF4-4E20-A487-D5A2B71C3E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Biyoinformatik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96789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B720E-A723-3FE9-89FA-0964A954E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Gün 1 </a:t>
            </a:r>
            <a:r>
              <a:rPr lang="en-US" b="1" dirty="0" err="1"/>
              <a:t>Amaçları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Python </a:t>
            </a:r>
            <a:r>
              <a:rPr lang="en-US" dirty="0" err="1"/>
              <a:t>dilinin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yapılarını</a:t>
            </a:r>
            <a:r>
              <a:rPr lang="en-US" dirty="0"/>
              <a:t> </a:t>
            </a:r>
            <a:r>
              <a:rPr lang="en-US" dirty="0" err="1"/>
              <a:t>öğrenmek</a:t>
            </a:r>
            <a:endParaRPr lang="en-US" dirty="0"/>
          </a:p>
          <a:p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dizilerle</a:t>
            </a:r>
            <a:r>
              <a:rPr lang="en-US" dirty="0"/>
              <a:t> (DNA) </a:t>
            </a:r>
            <a:r>
              <a:rPr lang="en-US" dirty="0" err="1"/>
              <a:t>çalışmaya</a:t>
            </a:r>
            <a:r>
              <a:rPr lang="en-US" dirty="0"/>
              <a:t> </a:t>
            </a:r>
            <a:r>
              <a:rPr lang="en-US" dirty="0" err="1"/>
              <a:t>başlamak</a:t>
            </a:r>
            <a:endParaRPr lang="en-US" dirty="0"/>
          </a:p>
          <a:p>
            <a:r>
              <a:rPr lang="en-US" dirty="0"/>
              <a:t>FASTA </a:t>
            </a:r>
            <a:r>
              <a:rPr lang="en-US" dirty="0" err="1"/>
              <a:t>dosyalarının</a:t>
            </a:r>
            <a:r>
              <a:rPr lang="en-US" dirty="0"/>
              <a:t> </a:t>
            </a:r>
            <a:r>
              <a:rPr lang="en-US" dirty="0" err="1"/>
              <a:t>yapısını</a:t>
            </a:r>
            <a:r>
              <a:rPr lang="en-US" dirty="0"/>
              <a:t> </a:t>
            </a:r>
            <a:r>
              <a:rPr lang="en-US" dirty="0" err="1"/>
              <a:t>anlamak</a:t>
            </a:r>
            <a:endParaRPr lang="en-US" dirty="0"/>
          </a:p>
          <a:p>
            <a:r>
              <a:rPr lang="en-US" dirty="0"/>
              <a:t>Dosya </a:t>
            </a:r>
            <a:r>
              <a:rPr lang="en-US" dirty="0" err="1"/>
              <a:t>okuma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temizleme</a:t>
            </a:r>
            <a:r>
              <a:rPr lang="en-US" dirty="0"/>
              <a:t> </a:t>
            </a:r>
            <a:r>
              <a:rPr lang="en-US" dirty="0" err="1"/>
              <a:t>mantığını</a:t>
            </a:r>
            <a:r>
              <a:rPr lang="en-US" dirty="0"/>
              <a:t> </a:t>
            </a:r>
            <a:r>
              <a:rPr lang="en-US" dirty="0" err="1"/>
              <a:t>kavramak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61655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337C1-2A58-75FF-2537-B20C9501C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7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Gün 2 </a:t>
            </a:r>
            <a:r>
              <a:rPr lang="en-US" b="1" dirty="0" err="1"/>
              <a:t>Amaçları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dirty="0" err="1"/>
              <a:t>Sayısal</a:t>
            </a:r>
            <a:r>
              <a:rPr lang="en-US" dirty="0"/>
              <a:t>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verilerle</a:t>
            </a:r>
            <a:r>
              <a:rPr lang="en-US" dirty="0"/>
              <a:t> </a:t>
            </a:r>
            <a:r>
              <a:rPr lang="en-US" dirty="0" err="1"/>
              <a:t>verimli</a:t>
            </a:r>
            <a:r>
              <a:rPr lang="en-US" dirty="0"/>
              <a:t> </a:t>
            </a:r>
            <a:r>
              <a:rPr lang="en-US" dirty="0" err="1"/>
              <a:t>çalışmak</a:t>
            </a:r>
            <a:endParaRPr lang="en-US" dirty="0"/>
          </a:p>
          <a:p>
            <a:r>
              <a:rPr lang="en-US" dirty="0"/>
              <a:t>Tablo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mantığını</a:t>
            </a:r>
            <a:r>
              <a:rPr lang="en-US" dirty="0"/>
              <a:t> </a:t>
            </a:r>
            <a:r>
              <a:rPr lang="en-US" dirty="0" err="1"/>
              <a:t>öğrenmek</a:t>
            </a:r>
            <a:endParaRPr lang="en-US" dirty="0"/>
          </a:p>
          <a:p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mini </a:t>
            </a:r>
            <a:r>
              <a:rPr lang="en-US" dirty="0" err="1"/>
              <a:t>biyoinformatik</a:t>
            </a:r>
            <a:r>
              <a:rPr lang="en-US" dirty="0"/>
              <a:t> </a:t>
            </a:r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yapmak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786665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FD04-8A44-34DB-DC90-3712571F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Neden</a:t>
            </a:r>
            <a:r>
              <a:rPr lang="en-US" dirty="0"/>
              <a:t> Python?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C5574-C060-0E24-6BAE-3E8E376AF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Açık kaynak</a:t>
            </a:r>
          </a:p>
          <a:p>
            <a:r>
              <a:rPr lang="en-TR" dirty="0"/>
              <a:t>Büyük veriyle hızla çalışma</a:t>
            </a:r>
          </a:p>
          <a:p>
            <a:r>
              <a:rPr lang="en-TR" dirty="0"/>
              <a:t>Biyoinformatikte yaygın kullanım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77461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381A1B0-F488-7F2F-AA84-C93118470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973856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Biyoinformatikte Python Nerede Kullanılır?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5BBB86-CEFE-8785-0412-4AD1F05C3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FASTA/FASTQ okuma</a:t>
            </a:r>
          </a:p>
          <a:p>
            <a:r>
              <a:rPr lang="en-TR" dirty="0"/>
              <a:t>Gen ekspresyon analizi</a:t>
            </a:r>
          </a:p>
          <a:p>
            <a:r>
              <a:rPr lang="en-TR" dirty="0"/>
              <a:t>Varyant analizi </a:t>
            </a:r>
          </a:p>
          <a:p>
            <a:r>
              <a:rPr lang="en-TR" dirty="0"/>
              <a:t>scRNA-seq ön işleme</a:t>
            </a:r>
          </a:p>
          <a:p>
            <a:r>
              <a:rPr lang="en-TR" dirty="0"/>
              <a:t>Görselleştirme ve raporlama</a:t>
            </a:r>
          </a:p>
        </p:txBody>
      </p:sp>
    </p:spTree>
    <p:extLst>
      <p:ext uri="{BB962C8B-B14F-4D97-AF65-F5344CB8AC3E}">
        <p14:creationId xmlns:p14="http://schemas.microsoft.com/office/powerpoint/2010/main" val="1146284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5440-51A0-9AA7-1A0C-5BE7E1D30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Python’da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tiplerde</a:t>
            </a:r>
            <a:r>
              <a:rPr lang="en-US" dirty="0"/>
              <a:t> </a:t>
            </a:r>
            <a:r>
              <a:rPr lang="en-US" dirty="0" err="1"/>
              <a:t>saklanır</a:t>
            </a:r>
            <a:r>
              <a:rPr lang="en-US" dirty="0"/>
              <a:t>. </a:t>
            </a:r>
          </a:p>
          <a:p>
            <a:r>
              <a:rPr lang="en-US" dirty="0" err="1"/>
              <a:t>Metinsel</a:t>
            </a:r>
            <a:r>
              <a:rPr lang="en-US" dirty="0"/>
              <a:t> </a:t>
            </a:r>
            <a:r>
              <a:rPr lang="en-US" dirty="0" err="1"/>
              <a:t>bilgiler</a:t>
            </a:r>
            <a:r>
              <a:rPr lang="en-US" dirty="0"/>
              <a:t> string, tam </a:t>
            </a:r>
            <a:r>
              <a:rPr lang="en-US" dirty="0" err="1"/>
              <a:t>sayılar</a:t>
            </a:r>
            <a:r>
              <a:rPr lang="en-US" dirty="0"/>
              <a:t> integer, </a:t>
            </a:r>
            <a:r>
              <a:rPr lang="en-US" dirty="0" err="1"/>
              <a:t>ondalıklı</a:t>
            </a:r>
            <a:r>
              <a:rPr lang="en-US" dirty="0"/>
              <a:t> </a:t>
            </a:r>
            <a:r>
              <a:rPr lang="en-US" dirty="0" err="1"/>
              <a:t>sayılar</a:t>
            </a:r>
            <a:r>
              <a:rPr lang="en-US" dirty="0"/>
              <a:t> float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tanımlanır</a:t>
            </a:r>
            <a:r>
              <a:rPr lang="en-US" dirty="0"/>
              <a:t>. </a:t>
            </a:r>
          </a:p>
          <a:p>
            <a:r>
              <a:rPr lang="en-US" dirty="0" err="1"/>
              <a:t>Biyoinformatikte</a:t>
            </a:r>
            <a:r>
              <a:rPr lang="en-US" dirty="0"/>
              <a:t> gen </a:t>
            </a:r>
            <a:r>
              <a:rPr lang="en-US" dirty="0" err="1"/>
              <a:t>isimleri</a:t>
            </a:r>
            <a:r>
              <a:rPr lang="en-US" dirty="0"/>
              <a:t> </a:t>
            </a:r>
            <a:r>
              <a:rPr lang="en-US" dirty="0" err="1"/>
              <a:t>genellikle</a:t>
            </a:r>
            <a:r>
              <a:rPr lang="en-US" dirty="0"/>
              <a:t> string, </a:t>
            </a:r>
            <a:r>
              <a:rPr lang="en-US" dirty="0" err="1"/>
              <a:t>ekspresyon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sayısal</a:t>
            </a:r>
            <a:r>
              <a:rPr lang="en-US" dirty="0"/>
              <a:t> </a:t>
            </a:r>
            <a:r>
              <a:rPr lang="en-US" dirty="0" err="1"/>
              <a:t>tipler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A1AE73-885D-63A9-0E41-8FE9DBDAC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35491"/>
            <a:ext cx="1021965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4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Python Temelleri: Değişkenler ve Veri Tipleri</a:t>
            </a:r>
            <a:endParaRPr kumimoji="0" lang="en-TR" altLang="en-TR" sz="4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75421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5BAC-3F32-86BD-1597-7581128BE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Listeler</a:t>
            </a:r>
            <a:r>
              <a:rPr lang="en-US" dirty="0"/>
              <a:t>,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öğeyi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tutmak</a:t>
            </a:r>
            <a:r>
              <a:rPr lang="en-US" dirty="0"/>
              <a:t> için </a:t>
            </a:r>
            <a:r>
              <a:rPr lang="en-US" dirty="0" err="1"/>
              <a:t>kullanılır</a:t>
            </a:r>
            <a:r>
              <a:rPr lang="en-US" dirty="0"/>
              <a:t>. Gen </a:t>
            </a:r>
            <a:r>
              <a:rPr lang="en-US" dirty="0" err="1"/>
              <a:t>listeleri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döngüler</a:t>
            </a:r>
            <a:r>
              <a:rPr lang="en-US" dirty="0"/>
              <a:t> </a:t>
            </a:r>
            <a:r>
              <a:rPr lang="en-US" dirty="0" err="1"/>
              <a:t>yardımıyla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yapılabilir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yaklaşım</a:t>
            </a:r>
            <a:r>
              <a:rPr lang="en-US" dirty="0"/>
              <a:t>, gen </a:t>
            </a:r>
            <a:r>
              <a:rPr lang="en-US" dirty="0" err="1"/>
              <a:t>setleriyle</a:t>
            </a:r>
            <a:r>
              <a:rPr lang="en-US" dirty="0"/>
              <a:t> </a:t>
            </a:r>
            <a:r>
              <a:rPr lang="en-US" dirty="0" err="1"/>
              <a:t>çalışmanın</a:t>
            </a:r>
            <a:r>
              <a:rPr lang="en-US" dirty="0"/>
              <a:t> </a:t>
            </a:r>
            <a:r>
              <a:rPr lang="en-US" dirty="0" err="1"/>
              <a:t>temelini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2CB739-8611-0529-90DB-E13E63D13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467749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Listeler ve Döngüler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291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2E56C-02FD-7F31-4BC4-EFF3CAD6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Dictionary </a:t>
            </a:r>
            <a:r>
              <a:rPr lang="en-US" dirty="0" err="1"/>
              <a:t>yapıları</a:t>
            </a:r>
            <a:r>
              <a:rPr lang="en-US" dirty="0"/>
              <a:t>, </a:t>
            </a:r>
            <a:r>
              <a:rPr lang="en-US" dirty="0" err="1"/>
              <a:t>anahtar</a:t>
            </a:r>
            <a:r>
              <a:rPr lang="en-US" dirty="0"/>
              <a:t>–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ilişkisi</a:t>
            </a:r>
            <a:r>
              <a:rPr lang="en-US" dirty="0"/>
              <a:t> </a:t>
            </a:r>
            <a:r>
              <a:rPr lang="en-US" dirty="0" err="1"/>
              <a:t>kurmak</a:t>
            </a:r>
            <a:r>
              <a:rPr lang="en-US" dirty="0"/>
              <a:t> için </a:t>
            </a:r>
            <a:r>
              <a:rPr lang="en-US" dirty="0" err="1"/>
              <a:t>kullanılır</a:t>
            </a:r>
            <a:r>
              <a:rPr lang="en-US" dirty="0"/>
              <a:t>. </a:t>
            </a:r>
          </a:p>
          <a:p>
            <a:r>
              <a:rPr lang="en-US" dirty="0"/>
              <a:t>Bir </a:t>
            </a:r>
            <a:r>
              <a:rPr lang="en-US" dirty="0" err="1"/>
              <a:t>genin</a:t>
            </a:r>
            <a:r>
              <a:rPr lang="en-US" dirty="0"/>
              <a:t> </a:t>
            </a:r>
            <a:r>
              <a:rPr lang="en-US" dirty="0" err="1"/>
              <a:t>ekspresyon</a:t>
            </a:r>
            <a:r>
              <a:rPr lang="en-US" dirty="0"/>
              <a:t> </a:t>
            </a:r>
            <a:r>
              <a:rPr lang="en-US" dirty="0" err="1"/>
              <a:t>değerini</a:t>
            </a:r>
            <a:r>
              <a:rPr lang="en-US" dirty="0"/>
              <a:t> gen 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saklamak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erişmek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mümkündür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biyoinformatikte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yaygındır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1C45A2-C5F3-4A55-6B5C-1CE7750B1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974818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Dictionary Yapısı: Gen – Ekspresyon İlişkisi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0441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CB231-E927-EC77-805A-2933C7770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Koşul</a:t>
            </a:r>
            <a:r>
              <a:rPr lang="en-US" dirty="0"/>
              <a:t> </a:t>
            </a:r>
            <a:r>
              <a:rPr lang="en-US" dirty="0" err="1"/>
              <a:t>ifadeleri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kriterlere</a:t>
            </a:r>
            <a:r>
              <a:rPr lang="en-US" dirty="0"/>
              <a:t> </a:t>
            </a:r>
            <a:r>
              <a:rPr lang="en-US" dirty="0" err="1"/>
              <a:t>uyan</a:t>
            </a:r>
            <a:r>
              <a:rPr lang="en-US" dirty="0"/>
              <a:t> </a:t>
            </a:r>
            <a:r>
              <a:rPr lang="en-US" dirty="0" err="1"/>
              <a:t>genler</a:t>
            </a:r>
            <a:r>
              <a:rPr lang="en-US" dirty="0"/>
              <a:t> </a:t>
            </a:r>
            <a:r>
              <a:rPr lang="en-US" dirty="0" err="1"/>
              <a:t>seçilebilir</a:t>
            </a:r>
            <a:r>
              <a:rPr lang="en-US" dirty="0"/>
              <a:t>.</a:t>
            </a:r>
          </a:p>
          <a:p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ekspresyon</a:t>
            </a:r>
            <a:r>
              <a:rPr lang="en-US" dirty="0"/>
              <a:t> </a:t>
            </a:r>
            <a:r>
              <a:rPr lang="en-US" dirty="0" err="1"/>
              <a:t>eşiğinin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genler</a:t>
            </a:r>
            <a:r>
              <a:rPr lang="en-US" dirty="0"/>
              <a:t> </a:t>
            </a:r>
            <a:r>
              <a:rPr lang="en-US" dirty="0" err="1"/>
              <a:t>filtrelenerek</a:t>
            </a:r>
            <a:r>
              <a:rPr lang="en-US" dirty="0"/>
              <a:t>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anlamlı</a:t>
            </a:r>
            <a:r>
              <a:rPr lang="en-US" dirty="0"/>
              <a:t> </a:t>
            </a:r>
            <a:r>
              <a:rPr lang="en-US" dirty="0" err="1"/>
              <a:t>sonuçlara</a:t>
            </a:r>
            <a:r>
              <a:rPr lang="en-US" dirty="0"/>
              <a:t> </a:t>
            </a:r>
            <a:r>
              <a:rPr lang="en-US" dirty="0" err="1"/>
              <a:t>ulaşılabilir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0D650E-D9DD-8BCB-9FDA-0C81A8B41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508382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Koşullar ve Filtreleme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603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33F80-DB79-0A11-4CB9-76CEAE83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Fonksiyonlar</a:t>
            </a:r>
            <a:r>
              <a:rPr lang="en-US" dirty="0"/>
              <a:t>,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düzenli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güvenilir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için </a:t>
            </a:r>
            <a:r>
              <a:rPr lang="en-US" dirty="0" err="1"/>
              <a:t>kullanılır</a:t>
            </a:r>
            <a:r>
              <a:rPr lang="en-US" dirty="0"/>
              <a:t>. </a:t>
            </a:r>
          </a:p>
          <a:p>
            <a:r>
              <a:rPr lang="en-US" dirty="0" err="1"/>
              <a:t>Biyoinformatikte</a:t>
            </a:r>
            <a:r>
              <a:rPr lang="en-US" dirty="0"/>
              <a:t> GC </a:t>
            </a:r>
            <a:r>
              <a:rPr lang="en-US" dirty="0" err="1"/>
              <a:t>içeriği</a:t>
            </a:r>
            <a:r>
              <a:rPr lang="en-US" dirty="0"/>
              <a:t> </a:t>
            </a:r>
            <a:r>
              <a:rPr lang="en-US" dirty="0" err="1"/>
              <a:t>hesaplama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işlemler</a:t>
            </a:r>
            <a:r>
              <a:rPr lang="en-US" dirty="0"/>
              <a:t> </a:t>
            </a:r>
            <a:r>
              <a:rPr lang="en-US" dirty="0" err="1"/>
              <a:t>fonksiyonlar</a:t>
            </a:r>
            <a:r>
              <a:rPr lang="en-US" dirty="0"/>
              <a:t> </a:t>
            </a:r>
            <a:r>
              <a:rPr lang="en-US" dirty="0" err="1"/>
              <a:t>yardımıyla</a:t>
            </a:r>
            <a:r>
              <a:rPr lang="en-US" dirty="0"/>
              <a:t> </a:t>
            </a:r>
            <a:r>
              <a:rPr lang="en-US" dirty="0" err="1"/>
              <a:t>modüler</a:t>
            </a:r>
            <a:r>
              <a:rPr lang="en-US" dirty="0"/>
              <a:t> hale </a:t>
            </a:r>
            <a:r>
              <a:rPr lang="en-US" dirty="0" err="1"/>
              <a:t>getirilir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AA9DD6-A618-BCCD-1658-78D718A32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04686"/>
            <a:ext cx="4418838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Fonksiyon Kavramı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436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1A8A-7EE6-3B58-A230-123AC7917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GC </a:t>
            </a:r>
            <a:r>
              <a:rPr lang="en-US" dirty="0" err="1"/>
              <a:t>içeriği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dizideki</a:t>
            </a:r>
            <a:r>
              <a:rPr lang="en-US" dirty="0"/>
              <a:t> G </a:t>
            </a:r>
            <a:r>
              <a:rPr lang="en-US" dirty="0" err="1"/>
              <a:t>ve</a:t>
            </a:r>
            <a:r>
              <a:rPr lang="en-US" dirty="0"/>
              <a:t> C </a:t>
            </a:r>
            <a:r>
              <a:rPr lang="en-US" dirty="0" err="1"/>
              <a:t>bazlarının</a:t>
            </a:r>
            <a:r>
              <a:rPr lang="en-US" dirty="0"/>
              <a:t> </a:t>
            </a:r>
            <a:r>
              <a:rPr lang="en-US" dirty="0" err="1"/>
              <a:t>oranını</a:t>
            </a:r>
            <a:r>
              <a:rPr lang="en-US" dirty="0"/>
              <a:t> </a:t>
            </a:r>
            <a:r>
              <a:rPr lang="en-US" dirty="0" err="1"/>
              <a:t>ifade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metrik</a:t>
            </a:r>
            <a:r>
              <a:rPr lang="en-US" dirty="0"/>
              <a:t>, </a:t>
            </a:r>
            <a:r>
              <a:rPr lang="en-US" dirty="0" err="1"/>
              <a:t>dizinin</a:t>
            </a:r>
            <a:r>
              <a:rPr lang="en-US" dirty="0"/>
              <a:t> </a:t>
            </a:r>
            <a:r>
              <a:rPr lang="en-US" dirty="0" err="1"/>
              <a:t>yapısal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anlamı</a:t>
            </a:r>
            <a:r>
              <a:rPr lang="en-US" dirty="0"/>
              <a:t>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sıkça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D901A1-7474-56CE-887C-EDFAAD4F9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4035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GC İçeriği Nedir?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4681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AF71-75D4-82D6-3EB3-D2CB68619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Biyoinformatikte</a:t>
            </a:r>
            <a:r>
              <a:rPr lang="en-US" dirty="0"/>
              <a:t> Dosya Okuma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81A48-8835-58C8-E12B-1C0C3A32C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dosyalar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FASTA, FASTQ, BAM </a:t>
            </a:r>
            <a:r>
              <a:rPr lang="en-US" dirty="0" err="1"/>
              <a:t>ve</a:t>
            </a:r>
            <a:r>
              <a:rPr lang="en-US" dirty="0"/>
              <a:t> VCF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dosyalarla</a:t>
            </a:r>
            <a:r>
              <a:rPr lang="en-US" dirty="0"/>
              <a:t> </a:t>
            </a:r>
            <a:r>
              <a:rPr lang="en-US" dirty="0" err="1"/>
              <a:t>çalışılır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nedenle</a:t>
            </a:r>
            <a:r>
              <a:rPr lang="en-US" dirty="0"/>
              <a:t> </a:t>
            </a:r>
            <a:r>
              <a:rPr lang="en-US" dirty="0" err="1"/>
              <a:t>Python’da</a:t>
            </a:r>
            <a:r>
              <a:rPr lang="en-US" dirty="0"/>
              <a:t> </a:t>
            </a:r>
            <a:r>
              <a:rPr lang="en-US" dirty="0" err="1"/>
              <a:t>güvenli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kontrollü</a:t>
            </a:r>
            <a:r>
              <a:rPr lang="en-US" dirty="0"/>
              <a:t> </a:t>
            </a:r>
            <a:r>
              <a:rPr lang="en-US" dirty="0" err="1"/>
              <a:t>dosya</a:t>
            </a:r>
            <a:r>
              <a:rPr lang="en-US" dirty="0"/>
              <a:t> </a:t>
            </a:r>
            <a:r>
              <a:rPr lang="en-US" dirty="0" err="1"/>
              <a:t>okuma</a:t>
            </a:r>
            <a:r>
              <a:rPr lang="en-US" dirty="0"/>
              <a:t> </a:t>
            </a:r>
            <a:r>
              <a:rPr lang="en-US" dirty="0" err="1"/>
              <a:t>yöntemleri</a:t>
            </a:r>
            <a:r>
              <a:rPr lang="en-US" dirty="0"/>
              <a:t> </a:t>
            </a:r>
            <a:r>
              <a:rPr lang="en-US" dirty="0" err="1"/>
              <a:t>kullanılmalıdır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6995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F193F-AF39-32DB-34F0-A50F83ABA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Python’da</a:t>
            </a:r>
            <a:r>
              <a:rPr lang="en-US" dirty="0"/>
              <a:t> </a:t>
            </a:r>
            <a:r>
              <a:rPr lang="en-US" dirty="0" err="1"/>
              <a:t>dosya</a:t>
            </a:r>
            <a:r>
              <a:rPr lang="en-US" dirty="0"/>
              <a:t> </a:t>
            </a:r>
            <a:r>
              <a:rPr lang="en-US" dirty="0" err="1"/>
              <a:t>okurken</a:t>
            </a:r>
            <a:r>
              <a:rPr lang="en-US" dirty="0"/>
              <a:t> with open </a:t>
            </a:r>
            <a:r>
              <a:rPr lang="en-US" dirty="0" err="1"/>
              <a:t>yapısı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yapı</a:t>
            </a:r>
            <a:r>
              <a:rPr lang="en-US" dirty="0"/>
              <a:t>, </a:t>
            </a:r>
            <a:r>
              <a:rPr lang="en-US" dirty="0" err="1"/>
              <a:t>dosyanın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bile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kapatılmasını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dosyalarla</a:t>
            </a:r>
            <a:r>
              <a:rPr lang="en-US" dirty="0"/>
              <a:t> </a:t>
            </a:r>
            <a:r>
              <a:rPr lang="en-US" dirty="0" err="1"/>
              <a:t>çalışırken</a:t>
            </a:r>
            <a:r>
              <a:rPr lang="en-US" dirty="0"/>
              <a:t> </a:t>
            </a:r>
            <a:r>
              <a:rPr lang="en-US" dirty="0" err="1"/>
              <a:t>güvenlidir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D54FFE-1C9C-897F-F677-16A586416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463594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with open Kullanımı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257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D072F-3073-A962-673F-30B0FFD5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Büyük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dosyalar</a:t>
            </a:r>
            <a:r>
              <a:rPr lang="en-US" dirty="0"/>
              <a:t> </a:t>
            </a:r>
            <a:r>
              <a:rPr lang="en-US" dirty="0" err="1"/>
              <a:t>belleğe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alınmaz</a:t>
            </a:r>
            <a:r>
              <a:rPr lang="en-US" dirty="0"/>
              <a:t>. </a:t>
            </a:r>
          </a:p>
          <a:p>
            <a:r>
              <a:rPr lang="en-US" dirty="0" err="1"/>
              <a:t>Dosyalar</a:t>
            </a:r>
            <a:r>
              <a:rPr lang="en-US" dirty="0"/>
              <a:t> </a:t>
            </a:r>
            <a:r>
              <a:rPr lang="en-US" dirty="0" err="1"/>
              <a:t>satır</a:t>
            </a:r>
            <a:r>
              <a:rPr lang="en-US" dirty="0"/>
              <a:t> </a:t>
            </a:r>
            <a:r>
              <a:rPr lang="en-US" dirty="0" err="1"/>
              <a:t>satır</a:t>
            </a:r>
            <a:r>
              <a:rPr lang="en-US" dirty="0"/>
              <a:t> </a:t>
            </a:r>
            <a:r>
              <a:rPr lang="en-US" dirty="0" err="1"/>
              <a:t>okunur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yaklaşım</a:t>
            </a:r>
            <a:r>
              <a:rPr lang="en-US" dirty="0"/>
              <a:t> </a:t>
            </a:r>
            <a:r>
              <a:rPr lang="en-US" dirty="0" err="1"/>
              <a:t>biyoinformatik</a:t>
            </a:r>
            <a:r>
              <a:rPr lang="en-US" dirty="0"/>
              <a:t> </a:t>
            </a:r>
            <a:r>
              <a:rPr lang="en-US" dirty="0" err="1"/>
              <a:t>analizlerin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prensiplerinden</a:t>
            </a:r>
            <a:r>
              <a:rPr lang="en-US" dirty="0"/>
              <a:t> </a:t>
            </a:r>
            <a:r>
              <a:rPr lang="en-US" dirty="0" err="1"/>
              <a:t>biridir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8EEC7A-5AC5-E296-194D-0C62672E3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567745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Satır Satır Dosya Okuma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233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4F16-3859-9986-AA17-6A0F909B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FASTA </a:t>
            </a:r>
            <a:r>
              <a:rPr lang="en-US" dirty="0" err="1"/>
              <a:t>dosyalarında</a:t>
            </a:r>
            <a:r>
              <a:rPr lang="en-US" dirty="0"/>
              <a:t> </a:t>
            </a:r>
            <a:r>
              <a:rPr lang="en-US" dirty="0" err="1"/>
              <a:t>başlık</a:t>
            </a:r>
            <a:r>
              <a:rPr lang="en-US" dirty="0"/>
              <a:t> </a:t>
            </a:r>
            <a:r>
              <a:rPr lang="en-US" dirty="0" err="1"/>
              <a:t>satırları</a:t>
            </a:r>
            <a:r>
              <a:rPr lang="en-US" dirty="0"/>
              <a:t> “&gt;” </a:t>
            </a:r>
            <a:r>
              <a:rPr lang="en-US" dirty="0" err="1"/>
              <a:t>karakteri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 </a:t>
            </a:r>
          </a:p>
          <a:p>
            <a:r>
              <a:rPr lang="en-US" dirty="0"/>
              <a:t>Dizi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satır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bulunabilir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parse </a:t>
            </a:r>
            <a:r>
              <a:rPr lang="en-US" dirty="0" err="1"/>
              <a:t>edilmelidir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B967B4-D65B-D7B4-A978-684F40251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04686"/>
            <a:ext cx="4622291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FASTA Dosya Yapısı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469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F4F6-75FF-1BBE-CEA5-80439FA43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FASTA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okunurken</a:t>
            </a:r>
            <a:r>
              <a:rPr lang="en-US" dirty="0"/>
              <a:t> </a:t>
            </a:r>
            <a:r>
              <a:rPr lang="en-US" dirty="0" err="1"/>
              <a:t>başlık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dizi </a:t>
            </a:r>
            <a:r>
              <a:rPr lang="en-US" dirty="0" err="1"/>
              <a:t>satırları</a:t>
            </a:r>
            <a:r>
              <a:rPr lang="en-US" dirty="0"/>
              <a:t> </a:t>
            </a:r>
            <a:r>
              <a:rPr lang="en-US" dirty="0" err="1"/>
              <a:t>ayrıştırılır</a:t>
            </a:r>
            <a:r>
              <a:rPr lang="en-US" dirty="0"/>
              <a:t>. </a:t>
            </a:r>
          </a:p>
          <a:p>
            <a:r>
              <a:rPr lang="en-US" dirty="0"/>
              <a:t>Her </a:t>
            </a:r>
            <a:r>
              <a:rPr lang="en-US" dirty="0" err="1"/>
              <a:t>başlık</a:t>
            </a:r>
            <a:r>
              <a:rPr lang="en-US" dirty="0"/>
              <a:t> için </a:t>
            </a:r>
            <a:r>
              <a:rPr lang="en-US" dirty="0" err="1"/>
              <a:t>diziler</a:t>
            </a:r>
            <a:r>
              <a:rPr lang="en-US" dirty="0"/>
              <a:t> </a:t>
            </a:r>
            <a:r>
              <a:rPr lang="en-US" dirty="0" err="1"/>
              <a:t>biriktirilir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dizi </a:t>
            </a:r>
            <a:r>
              <a:rPr lang="en-US" dirty="0" err="1"/>
              <a:t>haline</a:t>
            </a:r>
            <a:r>
              <a:rPr lang="en-US" dirty="0"/>
              <a:t> </a:t>
            </a:r>
            <a:r>
              <a:rPr lang="en-US" dirty="0" err="1"/>
              <a:t>getirilir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hatalara</a:t>
            </a:r>
            <a:r>
              <a:rPr lang="en-US" dirty="0"/>
              <a:t> </a:t>
            </a:r>
            <a:r>
              <a:rPr lang="en-US" dirty="0" err="1"/>
              <a:t>dayanıklı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yapılmalıdır</a:t>
            </a:r>
            <a:r>
              <a:rPr lang="en-US" dirty="0"/>
              <a:t>.</a:t>
            </a:r>
            <a:endParaRPr lang="en-TR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80DA61-3D56-530B-278C-D3DE678FE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04686"/>
            <a:ext cx="5168338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FASTA Parsing Mantığı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14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22085-8AD4-E631-55B0-EB82D5DF8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Şu</a:t>
            </a:r>
            <a:r>
              <a:rPr lang="en-US" b="1" dirty="0"/>
              <a:t> Ana Kadar Ne </a:t>
            </a:r>
            <a:r>
              <a:rPr lang="en-US" b="1" dirty="0" err="1"/>
              <a:t>Yaptık</a:t>
            </a:r>
            <a:r>
              <a:rPr lang="en-US" b="1" dirty="0"/>
              <a:t>?</a:t>
            </a:r>
          </a:p>
          <a:p>
            <a:r>
              <a:rPr lang="en-US" dirty="0"/>
              <a:t>FASTA </a:t>
            </a:r>
            <a:r>
              <a:rPr lang="en-US" dirty="0" err="1"/>
              <a:t>dosyasını</a:t>
            </a:r>
            <a:r>
              <a:rPr lang="en-US" dirty="0"/>
              <a:t> </a:t>
            </a:r>
            <a:r>
              <a:rPr lang="en-US" dirty="0" err="1"/>
              <a:t>okuduk</a:t>
            </a:r>
            <a:endParaRPr lang="en-US" dirty="0"/>
          </a:p>
          <a:p>
            <a:r>
              <a:rPr lang="en-US" dirty="0"/>
              <a:t>Sekansları </a:t>
            </a:r>
            <a:r>
              <a:rPr lang="en-US" dirty="0" err="1"/>
              <a:t>temizledik</a:t>
            </a:r>
            <a:endParaRPr lang="en-US" dirty="0"/>
          </a:p>
          <a:p>
            <a:r>
              <a:rPr lang="en-US" dirty="0"/>
              <a:t>GC </a:t>
            </a:r>
            <a:r>
              <a:rPr lang="en-US" dirty="0" err="1"/>
              <a:t>içeriğini</a:t>
            </a:r>
            <a:r>
              <a:rPr lang="en-US" dirty="0"/>
              <a:t> </a:t>
            </a:r>
            <a:r>
              <a:rPr lang="en-US" dirty="0" err="1"/>
              <a:t>hesapladık</a:t>
            </a:r>
            <a:endParaRPr lang="en-US" dirty="0"/>
          </a:p>
          <a:p>
            <a:endParaRPr lang="en-US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E6F668-5318-D436-6C2F-AF044C7FD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20130"/>
            <a:ext cx="1064278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3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NumPy ve Pandas’a Geçiş – Analizi Gerçekleştirmek (2. gün)</a:t>
            </a:r>
            <a:endParaRPr kumimoji="0" lang="en-TR" altLang="en-TR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914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54736-66EF-AE0C-03B3-FA82761B0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Üretilen</a:t>
            </a:r>
            <a:r>
              <a:rPr lang="en-US" dirty="0"/>
              <a:t>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sonuçları</a:t>
            </a:r>
            <a:r>
              <a:rPr lang="en-US" dirty="0"/>
              <a:t>:</a:t>
            </a:r>
          </a:p>
          <a:p>
            <a:r>
              <a:rPr lang="en-US" dirty="0" err="1"/>
              <a:t>Karşılaştırmak</a:t>
            </a:r>
            <a:endParaRPr lang="en-US" dirty="0"/>
          </a:p>
          <a:p>
            <a:r>
              <a:rPr lang="en-US" dirty="0" err="1"/>
              <a:t>Filtrelemek</a:t>
            </a:r>
            <a:endParaRPr lang="en-US" dirty="0"/>
          </a:p>
          <a:p>
            <a:r>
              <a:rPr lang="en-US" dirty="0" err="1"/>
              <a:t>Sıralamak</a:t>
            </a:r>
            <a:endParaRPr lang="en-US" dirty="0"/>
          </a:p>
          <a:p>
            <a:r>
              <a:rPr lang="en-US" dirty="0" err="1"/>
              <a:t>Kaydetmek</a:t>
            </a:r>
            <a:r>
              <a:rPr lang="en-US" dirty="0"/>
              <a:t> </a:t>
            </a:r>
            <a:r>
              <a:rPr lang="en-US" dirty="0" err="1"/>
              <a:t>isteriz</a:t>
            </a:r>
            <a:endParaRPr lang="en-US" dirty="0"/>
          </a:p>
          <a:p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noktada</a:t>
            </a:r>
            <a:r>
              <a:rPr lang="en-US" dirty="0"/>
              <a:t> </a:t>
            </a:r>
            <a:r>
              <a:rPr lang="en-US" b="1" dirty="0"/>
              <a:t>NumPy </a:t>
            </a:r>
            <a:r>
              <a:rPr lang="en-US" b="1" dirty="0" err="1"/>
              <a:t>ve</a:t>
            </a:r>
            <a:r>
              <a:rPr lang="en-US" b="1" dirty="0"/>
              <a:t> Pandas</a:t>
            </a:r>
            <a:r>
              <a:rPr lang="en-US" dirty="0"/>
              <a:t> </a:t>
            </a:r>
            <a:r>
              <a:rPr lang="en-US" dirty="0" err="1"/>
              <a:t>devreye</a:t>
            </a:r>
            <a:r>
              <a:rPr lang="en-US" dirty="0"/>
              <a:t> </a:t>
            </a:r>
            <a:r>
              <a:rPr lang="en-US" dirty="0" err="1"/>
              <a:t>girer</a:t>
            </a:r>
            <a:endParaRPr lang="en-US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C16B06-6241-927C-E5CF-686671F8A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81576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Gerçek Biyoinformatikte Ne İsteriz?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10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263B-1B8D-94C1-C6A0-95BC74F0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Neden</a:t>
            </a:r>
            <a:r>
              <a:rPr lang="en-US" dirty="0"/>
              <a:t> NumPy?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05EE8-F279-C2D1-A870-8C61A1771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listeleri</a:t>
            </a:r>
            <a:r>
              <a:rPr lang="en-US" dirty="0"/>
              <a:t> </a:t>
            </a:r>
            <a:r>
              <a:rPr lang="en-US" dirty="0" err="1"/>
              <a:t>eleman</a:t>
            </a:r>
            <a:r>
              <a:rPr lang="en-US" dirty="0"/>
              <a:t> </a:t>
            </a:r>
            <a:r>
              <a:rPr lang="en-US" dirty="0" err="1"/>
              <a:t>eleman</a:t>
            </a:r>
            <a:r>
              <a:rPr lang="en-US" dirty="0"/>
              <a:t> </a:t>
            </a:r>
            <a:r>
              <a:rPr lang="en-US" dirty="0" err="1"/>
              <a:t>çalışır</a:t>
            </a:r>
            <a:endParaRPr lang="en-US" dirty="0"/>
          </a:p>
          <a:p>
            <a:r>
              <a:rPr lang="en-US" dirty="0" err="1"/>
              <a:t>Sayısal</a:t>
            </a:r>
            <a:r>
              <a:rPr lang="en-US" dirty="0"/>
              <a:t> </a:t>
            </a:r>
            <a:r>
              <a:rPr lang="en-US" dirty="0" err="1"/>
              <a:t>işlemler</a:t>
            </a:r>
            <a:r>
              <a:rPr lang="en-US" dirty="0"/>
              <a:t> için </a:t>
            </a:r>
            <a:r>
              <a:rPr lang="en-US" dirty="0" err="1"/>
              <a:t>yavaştır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NumPy:</a:t>
            </a:r>
          </a:p>
          <a:p>
            <a:r>
              <a:rPr lang="en-US" dirty="0" err="1"/>
              <a:t>Veriyi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parça</a:t>
            </a:r>
            <a:r>
              <a:rPr lang="en-US" dirty="0"/>
              <a:t> </a:t>
            </a:r>
            <a:r>
              <a:rPr lang="en-US" dirty="0" err="1"/>
              <a:t>sayısal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alır</a:t>
            </a:r>
            <a:endParaRPr lang="en-US" dirty="0"/>
          </a:p>
          <a:p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hızlıdır</a:t>
            </a:r>
            <a:endParaRPr lang="en-US" dirty="0"/>
          </a:p>
          <a:p>
            <a:r>
              <a:rPr lang="en-US" dirty="0" err="1"/>
              <a:t>Matematiksel</a:t>
            </a:r>
            <a:r>
              <a:rPr lang="en-US" dirty="0"/>
              <a:t> </a:t>
            </a:r>
            <a:r>
              <a:rPr lang="en-US" dirty="0" err="1"/>
              <a:t>işlemler</a:t>
            </a:r>
            <a:r>
              <a:rPr lang="en-US" dirty="0"/>
              <a:t> için optimize </a:t>
            </a:r>
            <a:r>
              <a:rPr lang="en-US" dirty="0" err="1"/>
              <a:t>edilmiştir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936043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AAA6-3803-D780-8B9E-D28730BA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Biyoinformatikte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Kritik?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915D9-69C4-A076-F205-88D6D896C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Binlerce</a:t>
            </a:r>
            <a:r>
              <a:rPr lang="en-US" dirty="0"/>
              <a:t> gen</a:t>
            </a:r>
          </a:p>
          <a:p>
            <a:r>
              <a:rPr lang="en-US" dirty="0"/>
              <a:t>On </a:t>
            </a:r>
            <a:r>
              <a:rPr lang="en-US" dirty="0" err="1"/>
              <a:t>binlerce</a:t>
            </a:r>
            <a:r>
              <a:rPr lang="en-US" dirty="0"/>
              <a:t> </a:t>
            </a:r>
            <a:r>
              <a:rPr lang="en-US" dirty="0" err="1"/>
              <a:t>hücre</a:t>
            </a:r>
            <a:endParaRPr lang="en-US" dirty="0"/>
          </a:p>
          <a:p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binlerce</a:t>
            </a:r>
            <a:r>
              <a:rPr lang="en-US" dirty="0"/>
              <a:t> </a:t>
            </a:r>
            <a:r>
              <a:rPr lang="en-US" dirty="0" err="1"/>
              <a:t>sekans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ölçekte</a:t>
            </a:r>
            <a:r>
              <a:rPr lang="en-US" dirty="0"/>
              <a:t>:</a:t>
            </a:r>
          </a:p>
          <a:p>
            <a:r>
              <a:rPr lang="en-US" dirty="0"/>
              <a:t>Saf Python </a:t>
            </a:r>
            <a:r>
              <a:rPr lang="en-US" dirty="0" err="1"/>
              <a:t>yetersiz</a:t>
            </a:r>
            <a:r>
              <a:rPr lang="en-US" dirty="0"/>
              <a:t> </a:t>
            </a:r>
            <a:r>
              <a:rPr lang="en-US" dirty="0" err="1"/>
              <a:t>kalır</a:t>
            </a:r>
            <a:endParaRPr lang="en-US" dirty="0"/>
          </a:p>
          <a:p>
            <a:r>
              <a:rPr lang="en-US" dirty="0"/>
              <a:t>NumPy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doğruluk</a:t>
            </a:r>
            <a:r>
              <a:rPr lang="en-US" dirty="0"/>
              <a:t> </a:t>
            </a:r>
            <a:r>
              <a:rPr lang="en-US" dirty="0" err="1"/>
              <a:t>sağlar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82563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77ED-EEB2-FAD5-690D-BFE8A69DB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Döngü</a:t>
            </a:r>
            <a:r>
              <a:rPr lang="en-US" dirty="0"/>
              <a:t> </a:t>
            </a:r>
            <a:r>
              <a:rPr lang="en-US" dirty="0" err="1"/>
              <a:t>yazma</a:t>
            </a:r>
            <a:r>
              <a:rPr lang="en-US" dirty="0"/>
              <a:t> </a:t>
            </a:r>
            <a:r>
              <a:rPr lang="en-US" dirty="0" err="1"/>
              <a:t>ihtiyacını</a:t>
            </a:r>
            <a:r>
              <a:rPr lang="en-US" dirty="0"/>
              <a:t> </a:t>
            </a:r>
            <a:r>
              <a:rPr lang="en-US" dirty="0" err="1"/>
              <a:t>azaltır</a:t>
            </a:r>
            <a:endParaRPr lang="en-US" dirty="0"/>
          </a:p>
          <a:p>
            <a:r>
              <a:rPr lang="en-US" dirty="0"/>
              <a:t>Kodu </a:t>
            </a:r>
            <a:r>
              <a:rPr lang="en-US" dirty="0" err="1"/>
              <a:t>sadeleştirir</a:t>
            </a:r>
            <a:endParaRPr lang="en-US" dirty="0"/>
          </a:p>
          <a:p>
            <a:r>
              <a:rPr lang="en-US" dirty="0"/>
              <a:t>Hata </a:t>
            </a:r>
            <a:r>
              <a:rPr lang="en-US" dirty="0" err="1"/>
              <a:t>riskini</a:t>
            </a:r>
            <a:r>
              <a:rPr lang="en-US" dirty="0"/>
              <a:t> </a:t>
            </a:r>
            <a:r>
              <a:rPr lang="en-US" dirty="0" err="1"/>
              <a:t>düşürür</a:t>
            </a:r>
            <a:endParaRPr lang="en-US" dirty="0"/>
          </a:p>
          <a:p>
            <a:r>
              <a:rPr lang="en-US" dirty="0" err="1"/>
              <a:t>Ortalama</a:t>
            </a:r>
            <a:r>
              <a:rPr lang="en-US" dirty="0"/>
              <a:t>, min, max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istatistikleri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satırda</a:t>
            </a:r>
            <a:r>
              <a:rPr lang="en-US" dirty="0"/>
              <a:t> </a:t>
            </a:r>
            <a:r>
              <a:rPr lang="en-US" dirty="0" err="1"/>
              <a:t>hesaplar</a:t>
            </a:r>
            <a:endParaRPr lang="en-US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A9645-F1EB-C6EF-C3EA-D392D4B21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529465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NumPy Ne Kazandırır?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5076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A0317-2706-4E13-08A3-E8A652190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Sekans</a:t>
            </a:r>
            <a:r>
              <a:rPr lang="en-US" dirty="0"/>
              <a:t> </a:t>
            </a:r>
            <a:r>
              <a:rPr lang="en-US" dirty="0" err="1"/>
              <a:t>uzunlukları</a:t>
            </a:r>
            <a:r>
              <a:rPr lang="en-US" dirty="0"/>
              <a:t> </a:t>
            </a:r>
            <a:r>
              <a:rPr lang="en-US" dirty="0" err="1"/>
              <a:t>sayısal</a:t>
            </a:r>
            <a:r>
              <a:rPr lang="en-US" dirty="0"/>
              <a:t> </a:t>
            </a:r>
            <a:r>
              <a:rPr lang="en-US" dirty="0" err="1"/>
              <a:t>diziye</a:t>
            </a:r>
            <a:r>
              <a:rPr lang="en-US" dirty="0"/>
              <a:t> </a:t>
            </a:r>
            <a:r>
              <a:rPr lang="en-US" dirty="0" err="1"/>
              <a:t>dönüştürüldü</a:t>
            </a:r>
            <a:endParaRPr lang="en-US" dirty="0"/>
          </a:p>
          <a:p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uzunluk</a:t>
            </a:r>
            <a:r>
              <a:rPr lang="en-US" dirty="0"/>
              <a:t> </a:t>
            </a:r>
            <a:r>
              <a:rPr lang="en-US" dirty="0" err="1"/>
              <a:t>hesaplandı</a:t>
            </a:r>
            <a:endParaRPr lang="en-US" dirty="0"/>
          </a:p>
          <a:p>
            <a:r>
              <a:rPr lang="en-US" dirty="0"/>
              <a:t>Minimum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değerler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edildi</a:t>
            </a:r>
            <a:endParaRPr lang="en-US" dirty="0"/>
          </a:p>
          <a:p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eşiklerin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sekanslar</a:t>
            </a:r>
            <a:r>
              <a:rPr lang="en-US" dirty="0"/>
              <a:t> </a:t>
            </a:r>
            <a:r>
              <a:rPr lang="en-US" dirty="0" err="1"/>
              <a:t>filtrelendi</a:t>
            </a:r>
            <a:endParaRPr lang="en-US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260F1A-BA4D-79C0-14EA-E77EEA1BE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955518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FASTA Sonuçlarını NumPy ile Analiz Etme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7272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1730C-3634-9F0F-D2CD-880EE48AD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Sayıları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iyi </a:t>
            </a:r>
            <a:r>
              <a:rPr lang="en-US" dirty="0" err="1"/>
              <a:t>işler</a:t>
            </a:r>
            <a:endParaRPr lang="en-US" dirty="0"/>
          </a:p>
          <a:p>
            <a:r>
              <a:rPr lang="en-US" dirty="0"/>
              <a:t>Ama </a:t>
            </a:r>
            <a:r>
              <a:rPr lang="en-US" dirty="0" err="1"/>
              <a:t>biyoinformatik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sayı</a:t>
            </a:r>
            <a:r>
              <a:rPr lang="en-US" dirty="0"/>
              <a:t> </a:t>
            </a:r>
            <a:r>
              <a:rPr lang="en-US" dirty="0" err="1"/>
              <a:t>değildir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Bizde</a:t>
            </a:r>
            <a:r>
              <a:rPr lang="en-US" dirty="0"/>
              <a:t> </a:t>
            </a:r>
            <a:r>
              <a:rPr lang="en-US" dirty="0" err="1"/>
              <a:t>ayrıca</a:t>
            </a:r>
            <a:r>
              <a:rPr lang="en-US" dirty="0"/>
              <a:t>:</a:t>
            </a:r>
          </a:p>
          <a:p>
            <a:r>
              <a:rPr lang="en-US" dirty="0"/>
              <a:t>Gen </a:t>
            </a:r>
            <a:r>
              <a:rPr lang="en-US" dirty="0" err="1"/>
              <a:t>isimleri</a:t>
            </a:r>
            <a:endParaRPr lang="en-US" dirty="0"/>
          </a:p>
          <a:p>
            <a:r>
              <a:rPr lang="en-US" dirty="0"/>
              <a:t>Örnek </a:t>
            </a:r>
            <a:r>
              <a:rPr lang="en-US" dirty="0" err="1"/>
              <a:t>kimlikleri</a:t>
            </a:r>
            <a:endParaRPr lang="en-US" dirty="0"/>
          </a:p>
          <a:p>
            <a:r>
              <a:rPr lang="en-US" dirty="0"/>
              <a:t>Klinik </a:t>
            </a:r>
            <a:r>
              <a:rPr lang="en-US" dirty="0" err="1"/>
              <a:t>bilgiler</a:t>
            </a:r>
            <a:endParaRPr lang="en-US" dirty="0"/>
          </a:p>
          <a:p>
            <a:r>
              <a:rPr lang="en-US" dirty="0"/>
              <a:t>Deney </a:t>
            </a:r>
            <a:r>
              <a:rPr lang="en-US" dirty="0" err="1"/>
              <a:t>koşulları</a:t>
            </a:r>
            <a:r>
              <a:rPr lang="en-US" dirty="0"/>
              <a:t> </a:t>
            </a:r>
            <a:r>
              <a:rPr lang="en-US" dirty="0" err="1"/>
              <a:t>vardır</a:t>
            </a:r>
            <a:endParaRPr lang="en-US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242B05-63F7-0BBC-1761-B87CA9054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391485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NumPy’nin Sınırı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70271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3FD7-D0EC-986D-3CB3-FF982A58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Neden</a:t>
            </a:r>
            <a:r>
              <a:rPr lang="en-US" dirty="0"/>
              <a:t> Pandas?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B38B-D67E-338F-5D3F-5781FFB1F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Biyoinformatik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çoğunlukla</a:t>
            </a:r>
            <a:r>
              <a:rPr lang="en-US" dirty="0"/>
              <a:t> </a:t>
            </a:r>
            <a:r>
              <a:rPr lang="en-US" dirty="0" err="1"/>
              <a:t>tablodur</a:t>
            </a:r>
            <a:endParaRPr lang="en-US" dirty="0"/>
          </a:p>
          <a:p>
            <a:r>
              <a:rPr lang="en-US" dirty="0"/>
              <a:t>Expression matrix</a:t>
            </a:r>
          </a:p>
          <a:p>
            <a:r>
              <a:rPr lang="en-US" dirty="0"/>
              <a:t>Annotation table</a:t>
            </a:r>
          </a:p>
          <a:p>
            <a:r>
              <a:rPr lang="en-US" dirty="0"/>
              <a:t>Metadata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24748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7CF1A-C9C1-2E6E-6DEB-A5EB58B4A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Satır</a:t>
            </a:r>
            <a:r>
              <a:rPr lang="en-US" dirty="0"/>
              <a:t> = </a:t>
            </a:r>
            <a:r>
              <a:rPr lang="en-US" dirty="0" err="1"/>
              <a:t>gözlem</a:t>
            </a:r>
            <a:r>
              <a:rPr lang="en-US" dirty="0"/>
              <a:t> (gen, </a:t>
            </a:r>
            <a:r>
              <a:rPr lang="en-US" dirty="0" err="1"/>
              <a:t>örnek</a:t>
            </a:r>
            <a:r>
              <a:rPr lang="en-US" dirty="0"/>
              <a:t>, </a:t>
            </a:r>
            <a:r>
              <a:rPr lang="en-US" dirty="0" err="1"/>
              <a:t>hücre</a:t>
            </a:r>
            <a:r>
              <a:rPr lang="en-US" dirty="0"/>
              <a:t>)</a:t>
            </a:r>
          </a:p>
          <a:p>
            <a:r>
              <a:rPr lang="en-US" dirty="0"/>
              <a:t>Kolon = </a:t>
            </a:r>
            <a:r>
              <a:rPr lang="en-US" dirty="0" err="1"/>
              <a:t>özellik</a:t>
            </a:r>
            <a:r>
              <a:rPr lang="en-US" dirty="0"/>
              <a:t> (</a:t>
            </a:r>
            <a:r>
              <a:rPr lang="en-US" dirty="0" err="1"/>
              <a:t>uzunluk</a:t>
            </a:r>
            <a:r>
              <a:rPr lang="en-US" dirty="0"/>
              <a:t>, GC, </a:t>
            </a:r>
            <a:r>
              <a:rPr lang="en-US" dirty="0" err="1"/>
              <a:t>ekspresyon</a:t>
            </a:r>
            <a:r>
              <a:rPr lang="en-US" dirty="0"/>
              <a:t>, </a:t>
            </a:r>
            <a:r>
              <a:rPr lang="en-US" dirty="0" err="1"/>
              <a:t>grup</a:t>
            </a:r>
            <a:r>
              <a:rPr lang="en-US" dirty="0"/>
              <a:t>)</a:t>
            </a:r>
          </a:p>
          <a:p>
            <a:r>
              <a:rPr lang="en-US" dirty="0"/>
              <a:t>Bu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biyolojik</a:t>
            </a:r>
            <a:r>
              <a:rPr lang="en-US" dirty="0"/>
              <a:t> </a:t>
            </a:r>
            <a:r>
              <a:rPr lang="en-US" dirty="0" err="1"/>
              <a:t>düşünme</a:t>
            </a:r>
            <a:r>
              <a:rPr lang="en-US" dirty="0"/>
              <a:t> </a:t>
            </a:r>
            <a:r>
              <a:rPr lang="en-US" dirty="0" err="1"/>
              <a:t>şekliyle</a:t>
            </a:r>
            <a:r>
              <a:rPr lang="en-US" dirty="0"/>
              <a:t> </a:t>
            </a:r>
            <a:r>
              <a:rPr lang="en-US" dirty="0" err="1"/>
              <a:t>birebir</a:t>
            </a:r>
            <a:r>
              <a:rPr lang="en-US" dirty="0"/>
              <a:t> </a:t>
            </a:r>
            <a:r>
              <a:rPr lang="en-US" dirty="0" err="1"/>
              <a:t>uyumludur</a:t>
            </a:r>
            <a:endParaRPr lang="en-US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14295A-3883-468B-54FA-7ED9A78D7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447699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DataFrame Mantığı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77327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9001-A311-4D46-0C32-0FEF0273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 FASTA </a:t>
            </a:r>
            <a:r>
              <a:rPr lang="en-US" dirty="0" err="1"/>
              <a:t>kaydı</a:t>
            </a:r>
            <a:r>
              <a:rPr lang="en-US" dirty="0"/>
              <a:t> için:</a:t>
            </a:r>
          </a:p>
          <a:p>
            <a:r>
              <a:rPr lang="en-US" dirty="0"/>
              <a:t>Gen / </a:t>
            </a:r>
            <a:r>
              <a:rPr lang="en-US" dirty="0" err="1"/>
              <a:t>sekans</a:t>
            </a:r>
            <a:r>
              <a:rPr lang="en-US" dirty="0"/>
              <a:t> ID</a:t>
            </a:r>
          </a:p>
          <a:p>
            <a:r>
              <a:rPr lang="en-US" dirty="0" err="1"/>
              <a:t>Sekans</a:t>
            </a:r>
            <a:r>
              <a:rPr lang="en-US" dirty="0"/>
              <a:t> </a:t>
            </a:r>
            <a:r>
              <a:rPr lang="en-US" dirty="0" err="1"/>
              <a:t>uzunluğu</a:t>
            </a:r>
            <a:endParaRPr lang="en-US" dirty="0"/>
          </a:p>
          <a:p>
            <a:r>
              <a:rPr lang="en-US" dirty="0"/>
              <a:t>GC </a:t>
            </a:r>
            <a:r>
              <a:rPr lang="en-US" dirty="0" err="1"/>
              <a:t>içeriği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Tek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tabloda</a:t>
            </a:r>
            <a:r>
              <a:rPr lang="en-US" dirty="0"/>
              <a:t> </a:t>
            </a:r>
            <a:r>
              <a:rPr lang="en-US" dirty="0" err="1"/>
              <a:t>toplandı</a:t>
            </a:r>
            <a:endParaRPr lang="en-US" dirty="0"/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534E46-0694-9049-A1E2-219590DB7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938256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FASTA Verisini DataFrame’e Dönüştürme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07997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1B1E-206E-12DC-5428-058392F0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Uzunluğa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filtreleme</a:t>
            </a:r>
            <a:endParaRPr lang="en-US" dirty="0"/>
          </a:p>
          <a:p>
            <a:r>
              <a:rPr lang="en-US" dirty="0"/>
              <a:t>GC </a:t>
            </a:r>
            <a:r>
              <a:rPr lang="en-US" dirty="0" err="1"/>
              <a:t>içeriğine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sıralama</a:t>
            </a:r>
            <a:endParaRPr lang="en-US" dirty="0"/>
          </a:p>
          <a:p>
            <a:r>
              <a:rPr lang="en-US" dirty="0" err="1"/>
              <a:t>Özet</a:t>
            </a:r>
            <a:r>
              <a:rPr lang="en-US" dirty="0"/>
              <a:t> </a:t>
            </a:r>
            <a:r>
              <a:rPr lang="en-US" dirty="0" err="1"/>
              <a:t>istatistikler</a:t>
            </a:r>
            <a:r>
              <a:rPr lang="en-US" dirty="0"/>
              <a:t> (</a:t>
            </a:r>
            <a:r>
              <a:rPr lang="en-US" dirty="0" err="1"/>
              <a:t>ortalama</a:t>
            </a:r>
            <a:r>
              <a:rPr lang="en-US" dirty="0"/>
              <a:t>, std, min, max)</a:t>
            </a:r>
          </a:p>
          <a:p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F2EC9-08E3-A8A1-BB73-04F5B71728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644464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Pandas ile Analiz Olanakları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40958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7500-4B81-085F-761D-1F6C85AD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</a:t>
            </a:r>
            <a:r>
              <a:rPr lang="en-US" dirty="0" err="1"/>
              <a:t>Proje</a:t>
            </a:r>
            <a:r>
              <a:rPr lang="en-US" dirty="0"/>
              <a:t>: TP53 Gen </a:t>
            </a:r>
            <a:r>
              <a:rPr lang="en-US" dirty="0" err="1"/>
              <a:t>Analizi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6755-1AD0-6894-B434-188C871E1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Projenin</a:t>
            </a:r>
            <a:r>
              <a:rPr lang="en-US" b="1" dirty="0"/>
              <a:t> </a:t>
            </a:r>
            <a:r>
              <a:rPr lang="en-US" b="1" dirty="0" err="1"/>
              <a:t>Amacı</a:t>
            </a:r>
            <a:endParaRPr lang="en-US" b="1" dirty="0"/>
          </a:p>
          <a:p>
            <a:r>
              <a:rPr lang="en-US" dirty="0"/>
              <a:t>TP53 </a:t>
            </a:r>
            <a:r>
              <a:rPr lang="en-US" dirty="0" err="1"/>
              <a:t>geninin</a:t>
            </a:r>
            <a:r>
              <a:rPr lang="en-US" dirty="0"/>
              <a:t> </a:t>
            </a:r>
            <a:r>
              <a:rPr lang="en-US" dirty="0" err="1"/>
              <a:t>dizisini</a:t>
            </a:r>
            <a:r>
              <a:rPr lang="en-US" dirty="0"/>
              <a:t> </a:t>
            </a:r>
            <a:r>
              <a:rPr lang="en-US" dirty="0" err="1"/>
              <a:t>incelemek</a:t>
            </a:r>
            <a:endParaRPr lang="en-US" dirty="0"/>
          </a:p>
          <a:p>
            <a:r>
              <a:rPr lang="en-US" dirty="0"/>
              <a:t>GC </a:t>
            </a:r>
            <a:r>
              <a:rPr lang="en-US" dirty="0" err="1"/>
              <a:t>içeriğini</a:t>
            </a:r>
            <a:r>
              <a:rPr lang="en-US" dirty="0"/>
              <a:t> </a:t>
            </a:r>
            <a:r>
              <a:rPr lang="en-US" dirty="0" err="1"/>
              <a:t>hesaplamak</a:t>
            </a:r>
            <a:endParaRPr lang="en-US" dirty="0"/>
          </a:p>
          <a:p>
            <a:r>
              <a:rPr lang="en-US" dirty="0" err="1"/>
              <a:t>Ekspresyon</a:t>
            </a:r>
            <a:r>
              <a:rPr lang="en-US" dirty="0"/>
              <a:t> </a:t>
            </a:r>
            <a:r>
              <a:rPr lang="en-US" dirty="0" err="1"/>
              <a:t>verisini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etmek</a:t>
            </a:r>
            <a:endParaRPr lang="en-US" dirty="0"/>
          </a:p>
          <a:p>
            <a:r>
              <a:rPr lang="en-US" dirty="0"/>
              <a:t>Klinik </a:t>
            </a:r>
            <a:r>
              <a:rPr lang="en-US" dirty="0" err="1"/>
              <a:t>bilgiyle</a:t>
            </a:r>
            <a:r>
              <a:rPr lang="en-US" dirty="0"/>
              <a:t> </a:t>
            </a:r>
            <a:r>
              <a:rPr lang="en-US" dirty="0" err="1"/>
              <a:t>birleştirmek</a:t>
            </a:r>
            <a:endParaRPr lang="en-US" dirty="0"/>
          </a:p>
          <a:p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görselleştirmek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60131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1261</Words>
  <Application>Microsoft Macintosh PowerPoint</Application>
  <PresentationFormat>Widescreen</PresentationFormat>
  <Paragraphs>233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Python ile Biyoinformatik</vt:lpstr>
      <vt:lpstr>PowerPoint Presentation</vt:lpstr>
      <vt:lpstr>PowerPoint Presentation</vt:lpstr>
      <vt:lpstr>Neden Python?</vt:lpstr>
      <vt:lpstr>Biyoinformatikte Python Nerede Kullanılır?</vt:lpstr>
      <vt:lpstr>Python Temelleri: Değişkenler ve Veri Tipleri</vt:lpstr>
      <vt:lpstr>Listeler ve Döngüler</vt:lpstr>
      <vt:lpstr>Dictionary Yapısı: Gen – Ekspresyon İlişkisi</vt:lpstr>
      <vt:lpstr>Koşullar ve Filtreleme</vt:lpstr>
      <vt:lpstr>Fonksiyon Kavramı </vt:lpstr>
      <vt:lpstr>GC İçeriği Nedir?</vt:lpstr>
      <vt:lpstr>Biyoinformatikte Dosya Okuma</vt:lpstr>
      <vt:lpstr>with open Kullanımı</vt:lpstr>
      <vt:lpstr>Satır Satır Dosya Okuma</vt:lpstr>
      <vt:lpstr>FASTA Dosya Yapısı </vt:lpstr>
      <vt:lpstr>FASTA Parsing Mantığı </vt:lpstr>
      <vt:lpstr>NumPy ve Pandas’a Geçiş – Analizi Gerçekleştirmek (2. gün)</vt:lpstr>
      <vt:lpstr>Gerçek Biyoinformatikte Ne İsteriz?</vt:lpstr>
      <vt:lpstr>Neden NumPy?</vt:lpstr>
      <vt:lpstr>Biyoinformatikte Neden Kritik?</vt:lpstr>
      <vt:lpstr>NumPy Ne Kazandırır?</vt:lpstr>
      <vt:lpstr>FASTA Sonuçlarını NumPy ile Analiz Etme</vt:lpstr>
      <vt:lpstr>NumPy’nin Sınırı</vt:lpstr>
      <vt:lpstr>Neden Pandas?</vt:lpstr>
      <vt:lpstr>DataFrame Mantığı</vt:lpstr>
      <vt:lpstr>FASTA Verisini DataFrame’e Dönüştürme</vt:lpstr>
      <vt:lpstr>Pandas ile Analiz Olanakları</vt:lpstr>
      <vt:lpstr>Mini Proje: TP53 Gen Analizi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Ozlem Tuna</dc:creator>
  <cp:lastModifiedBy>Ozlem Tuna</cp:lastModifiedBy>
  <cp:revision>1</cp:revision>
  <dcterms:created xsi:type="dcterms:W3CDTF">2025-12-16T11:23:32Z</dcterms:created>
  <dcterms:modified xsi:type="dcterms:W3CDTF">2025-12-16T11:47:26Z</dcterms:modified>
</cp:coreProperties>
</file>